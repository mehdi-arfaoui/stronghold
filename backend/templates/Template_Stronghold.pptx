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78" r:id="rId7"/>
    <p:sldId id="292" r:id="rId8"/>
    <p:sldId id="279" r:id="rId9"/>
    <p:sldId id="293" r:id="rId10"/>
    <p:sldId id="280" r:id="rId11"/>
    <p:sldId id="294" r:id="rId12"/>
    <p:sldId id="286" r:id="rId13"/>
    <p:sldId id="295" r:id="rId14"/>
    <p:sldId id="287" r:id="rId15"/>
    <p:sldId id="296" r:id="rId16"/>
    <p:sldId id="288" r:id="rId17"/>
    <p:sldId id="297" r:id="rId18"/>
    <p:sldId id="289" r:id="rId19"/>
    <p:sldId id="298" r:id="rId20"/>
    <p:sldId id="290" r:id="rId21"/>
    <p:sldId id="299" r:id="rId22"/>
    <p:sldId id="291" r:id="rId23"/>
    <p:sldId id="300" r:id="rId24"/>
    <p:sldId id="301" r:id="rId2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835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1D2EACD3-59A3-431D-A9CB-EC029C3F3AF5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8EEFA9E-C190-4F5C-8394-BD5F1CD55C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DA8956E-0A83-4930-8ABA-7967BBFAD4A7}" type="datetime1">
              <a:rPr lang="fr-FR" smtClean="0"/>
              <a:t>08/03/2026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2289C57-55D7-40A4-A101-E74FAC7A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433C-F061-1C26-DDDB-2113D230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A3802FD-805D-62E7-4020-EB4974E95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0DF55AE-4965-31FD-3313-10BA1E7D15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223783-5FAA-E0B0-F08B-9120DDA84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5888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925B4-F883-1D96-C2D4-6DE445D19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A7019A2-3A41-8B22-AEEF-A18DA8B70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D48F380-B880-BF32-73C0-69AF9EA70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F1EAE5-90B1-8C1B-29AC-4C6DF478B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291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24DD-248B-A6DE-B9CD-1BCFEC5F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74FA042-4571-3396-00B6-2D2921BDD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384FCA9-CFE8-BD7E-84DC-4DD08EDE6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8371A8-FC4B-CA51-6177-B5356360F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3485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B6F90-73C4-AEB7-8E53-7B239CD17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C7617ED-EFF3-2C28-B02D-789883752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210708A1-264D-9306-2113-33F6D2DA5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90F9AD-62B4-5C5C-0929-77ADDA629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9641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146A7-A727-2770-2FA2-0DE683D6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448D93B-0E30-E12B-3DB6-E05F3A951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0EC5A0E-3D61-3F6A-15E3-BB747BE36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1BD4B4-67A2-3032-3179-146D17D04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021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FF47-3D02-74D8-B49F-17B62EBA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8C62401-2556-56B3-86D7-9AC650289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B843CEA-846E-C601-2219-8AAFE0BFE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6B718B-82A6-C1CC-F7C3-B77A18887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0718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5976-BB12-CED5-CFBD-E60A7C2E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A2B52CD-D7C2-8650-FCC9-555FFAD8B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1312997-CB71-0D76-780B-7D24F6212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A1880F-9927-6D9D-BD84-580244260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4272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80EF0-847F-CFE8-C1FF-E719BABEE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76DA51C-FEE9-8CDE-8671-7E52138BA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3889C7B-4E08-5BFE-5256-06A30EAA2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03CFB6-0C95-258C-8656-812D75831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5425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3531D-B729-CDD9-0737-A7F20F81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CEC28A5B-4BF5-619D-A9F7-A0C860FBC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9254B94-B213-335F-3866-04A17419A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A3F129-AE05-9CFA-A6A6-7F27C9E0DF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1748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fr-FR" sz="3600" spc="15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 du jou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fr-F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 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fr-FR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fr-FR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fr-FR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fr-FR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20" name="Espace réservé du numéro de diapositive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fr-FR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Graphique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rme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fr-FR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en-US" noProof="0" dirty="0"/>
              <a:t>Resilience audit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1BA863B-9FB0-6D82-CF49-CDF8457CB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</p:spPr>
        <p:txBody>
          <a:bodyPr/>
          <a:lstStyle/>
          <a:p>
            <a:r>
              <a:rPr lang="en-US" noProof="0" dirty="0"/>
              <a:t>{Client} + date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2AE5E83-39E2-C1FF-E7B4-E8F900848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75" r="-3" b="13583"/>
          <a:stretch>
            <a:fillRect/>
          </a:stretch>
        </p:blipFill>
        <p:spPr>
          <a:xfrm>
            <a:off x="838199" y="3154166"/>
            <a:ext cx="5733773" cy="3032733"/>
          </a:xfrm>
          <a:prstGeom prst="rect">
            <a:avLst/>
          </a:prstGeom>
          <a:noFill/>
        </p:spPr>
      </p:pic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6AB1FA98-EF10-B2B4-1035-72371A965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A49DFD55-3C28-40EF-9E31-A92D2E4017FF}" type="slidenum">
              <a:rPr lang="en-US" noProof="0" smtClean="0"/>
              <a:pPr rtl="0">
                <a:spcAft>
                  <a:spcPts val="600"/>
                </a:spcAft>
              </a:pPr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Agenda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 fontScale="85000" lnSpcReduction="20000"/>
          </a:bodyPr>
          <a:lstStyle>
            <a:defPPr>
              <a:defRPr lang="fr-FR"/>
            </a:defPPr>
          </a:lstStyle>
          <a:p>
            <a:pPr rtl="0"/>
            <a:r>
              <a:rPr lang="en-US" noProof="0" dirty="0" err="1"/>
              <a:t>Thème</a:t>
            </a:r>
            <a:r>
              <a:rPr lang="en-US" noProof="0" dirty="0"/>
              <a:t> un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deux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trois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quatre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cinq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six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sept</a:t>
            </a:r>
          </a:p>
          <a:p>
            <a:pPr rtl="0"/>
            <a:r>
              <a:rPr lang="en-US" noProof="0" dirty="0" err="1"/>
              <a:t>Thème</a:t>
            </a:r>
            <a:r>
              <a:rPr lang="en-US" noProof="0" dirty="0"/>
              <a:t> </a:t>
            </a:r>
            <a:r>
              <a:rPr lang="en-US" noProof="0" dirty="0" err="1"/>
              <a:t>huit</a:t>
            </a:r>
            <a:endParaRPr lang="en-US" noProof="0" dirty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475972" cy="337735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Context &amp; Objectives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9AD763-6E51-E2CA-2826-F66E6678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1011800"/>
          </a:xfrm>
        </p:spPr>
        <p:txBody>
          <a:bodyPr/>
          <a:lstStyle/>
          <a:p>
            <a:r>
              <a:rPr lang="en-US" noProof="0" dirty="0"/>
              <a:t>Context &amp; objectives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3DC973-EAD1-E9A0-B530-629B07E6E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778924"/>
            <a:ext cx="7288212" cy="439120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FC65B0-76DB-780B-09F9-11BF322C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n-US" noProof="0" smtClean="0"/>
              <a:pPr rtl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3784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AWS DR Cases Overview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95A2F10-05AF-F6D3-8D9D-B3287227D1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27B33F-C646-CC01-DCD7-F407F9E6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n-US" noProof="0" smtClean="0"/>
              <a:pPr rtl="0"/>
              <a:t>6</a:t>
            </a:fld>
            <a:endParaRPr lang="en-US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A01C9-FF88-75BB-432C-1CBDB5951320}"/>
              </a:ext>
            </a:extLst>
          </p:cNvPr>
          <p:cNvSpPr/>
          <p:nvPr/>
        </p:nvSpPr>
        <p:spPr>
          <a:xfrm>
            <a:off x="515389" y="1113905"/>
            <a:ext cx="3240000" cy="5985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Availability Zone Loss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8ED90B-4569-BCE6-0800-A1FFEDC8653D}"/>
              </a:ext>
            </a:extLst>
          </p:cNvPr>
          <p:cNvSpPr/>
          <p:nvPr/>
        </p:nvSpPr>
        <p:spPr>
          <a:xfrm>
            <a:off x="4450595" y="1113903"/>
            <a:ext cx="3240000" cy="5985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Region Loss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AE8FEC-E7DC-A5D6-E8DA-2CA6F47E4772}"/>
              </a:ext>
            </a:extLst>
          </p:cNvPr>
          <p:cNvSpPr/>
          <p:nvPr/>
        </p:nvSpPr>
        <p:spPr>
          <a:xfrm>
            <a:off x="8385801" y="1113903"/>
            <a:ext cx="3240000" cy="5985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Cyber DR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2196FEE-705F-2445-D08F-105ACCD55071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AWS DR Cases Overview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DB6FDA7-90D9-69E5-8C02-3A962F9190A9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829A4926-56D2-18C2-E976-B27C7F1CD9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CBDE1B6-5A97-B40F-C06F-97D6D038F015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01685D7-F997-EF79-01EF-2668A2B473DF}"/>
              </a:ext>
            </a:extLst>
          </p:cNvPr>
          <p:cNvSpPr/>
          <p:nvPr/>
        </p:nvSpPr>
        <p:spPr>
          <a:xfrm>
            <a:off x="515389" y="1773142"/>
            <a:ext cx="3240000" cy="3382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/>
              <a:t>Maintain Region Continuity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E2A7FB-DCC2-2F0C-A1BB-D45B0535A504}"/>
              </a:ext>
            </a:extLst>
          </p:cNvPr>
          <p:cNvSpPr/>
          <p:nvPr/>
        </p:nvSpPr>
        <p:spPr>
          <a:xfrm>
            <a:off x="4450595" y="1773140"/>
            <a:ext cx="3240000" cy="3382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/>
              <a:t>Ability to rebuild the Landing Zone and workloads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6526C5-86C8-002D-DDAF-CFEA7BBD0F31}"/>
              </a:ext>
            </a:extLst>
          </p:cNvPr>
          <p:cNvSpPr/>
          <p:nvPr/>
        </p:nvSpPr>
        <p:spPr>
          <a:xfrm>
            <a:off x="8385801" y="1773140"/>
            <a:ext cx="3240000" cy="3382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/>
              <a:t>Starting again from a completely isolated and clean DR region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ACAB53-B2F0-18FA-4ED9-9C6807E834B6}"/>
              </a:ext>
            </a:extLst>
          </p:cNvPr>
          <p:cNvSpPr/>
          <p:nvPr/>
        </p:nvSpPr>
        <p:spPr>
          <a:xfrm>
            <a:off x="515389" y="2397760"/>
            <a:ext cx="3240000" cy="3712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EC4B43-893D-74F7-34EA-D12B514040E2}"/>
              </a:ext>
            </a:extLst>
          </p:cNvPr>
          <p:cNvSpPr/>
          <p:nvPr/>
        </p:nvSpPr>
        <p:spPr>
          <a:xfrm>
            <a:off x="8385801" y="2397760"/>
            <a:ext cx="3240000" cy="3712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2A16A6-F59F-0283-012C-1F822C47C3D8}"/>
              </a:ext>
            </a:extLst>
          </p:cNvPr>
          <p:cNvSpPr/>
          <p:nvPr/>
        </p:nvSpPr>
        <p:spPr>
          <a:xfrm>
            <a:off x="4433965" y="2397760"/>
            <a:ext cx="3256630" cy="37120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6365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Criticality circles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6A633-C878-24BB-1193-803F1E83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E2C773-C31C-9B81-62D5-B6B83825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n-US" noProof="0" smtClean="0"/>
              <a:pPr rtl="0"/>
              <a:t>8</a:t>
            </a:fld>
            <a:endParaRPr lang="en-US" noProof="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D40900FE-BD1A-0C5D-0D37-9ECC621099B9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Criticality circles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50557253-9F1E-D038-AA24-5694DAC13DAD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128B3D7-4FD8-3B0A-C94E-C8953C019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4D6959C-8331-CDCF-E361-5A93B5F36695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Oval 4">
            <a:extLst>
              <a:ext uri="{FF2B5EF4-FFF2-40B4-BE49-F238E27FC236}">
                <a16:creationId xmlns:a16="http://schemas.microsoft.com/office/drawing/2014/main" id="{6C8533BC-84E7-50EA-5154-5C856577C861}"/>
              </a:ext>
            </a:extLst>
          </p:cNvPr>
          <p:cNvSpPr/>
          <p:nvPr/>
        </p:nvSpPr>
        <p:spPr>
          <a:xfrm>
            <a:off x="8183287" y="1085557"/>
            <a:ext cx="3047891" cy="3047891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F8DFAD35-3609-1204-1E2C-DF02D04BF94E}"/>
              </a:ext>
            </a:extLst>
          </p:cNvPr>
          <p:cNvSpPr/>
          <p:nvPr/>
        </p:nvSpPr>
        <p:spPr>
          <a:xfrm>
            <a:off x="45906" y="1183105"/>
            <a:ext cx="5613974" cy="5265821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10">
            <a:extLst>
              <a:ext uri="{FF2B5EF4-FFF2-40B4-BE49-F238E27FC236}">
                <a16:creationId xmlns:a16="http://schemas.microsoft.com/office/drawing/2014/main" id="{494D5A87-2F66-A111-FB0E-CB9BB1DDDA58}"/>
              </a:ext>
            </a:extLst>
          </p:cNvPr>
          <p:cNvSpPr/>
          <p:nvPr/>
        </p:nvSpPr>
        <p:spPr>
          <a:xfrm>
            <a:off x="4809857" y="1183105"/>
            <a:ext cx="3682755" cy="3682755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63">
            <a:extLst>
              <a:ext uri="{FF2B5EF4-FFF2-40B4-BE49-F238E27FC236}">
                <a16:creationId xmlns:a16="http://schemas.microsoft.com/office/drawing/2014/main" id="{3DC8FE40-3221-048F-EEF8-25EB2385FB8A}"/>
              </a:ext>
            </a:extLst>
          </p:cNvPr>
          <p:cNvSpPr/>
          <p:nvPr/>
        </p:nvSpPr>
        <p:spPr>
          <a:xfrm>
            <a:off x="4051362" y="4160726"/>
            <a:ext cx="2737103" cy="2697274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76">
            <a:extLst>
              <a:ext uri="{FF2B5EF4-FFF2-40B4-BE49-F238E27FC236}">
                <a16:creationId xmlns:a16="http://schemas.microsoft.com/office/drawing/2014/main" id="{3D8D7AA7-3AF4-A960-465C-95CEF3552923}"/>
              </a:ext>
            </a:extLst>
          </p:cNvPr>
          <p:cNvSpPr txBox="1"/>
          <p:nvPr/>
        </p:nvSpPr>
        <p:spPr>
          <a:xfrm>
            <a:off x="1987399" y="5878950"/>
            <a:ext cx="1760622" cy="36933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2400" b="1" noProof="0" dirty="0"/>
              <a:t>Foundation</a:t>
            </a:r>
          </a:p>
        </p:txBody>
      </p:sp>
      <p:sp>
        <p:nvSpPr>
          <p:cNvPr id="21" name="TextBox 77">
            <a:extLst>
              <a:ext uri="{FF2B5EF4-FFF2-40B4-BE49-F238E27FC236}">
                <a16:creationId xmlns:a16="http://schemas.microsoft.com/office/drawing/2014/main" id="{C36D8651-155E-8517-8AA6-A91B9BFB2112}"/>
              </a:ext>
            </a:extLst>
          </p:cNvPr>
          <p:cNvSpPr txBox="1"/>
          <p:nvPr/>
        </p:nvSpPr>
        <p:spPr>
          <a:xfrm>
            <a:off x="4547768" y="4485109"/>
            <a:ext cx="1760622" cy="461665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200" b="1" noProof="0" dirty="0">
                <a:solidFill>
                  <a:schemeClr val="bg1"/>
                </a:solidFill>
              </a:rPr>
              <a:t>Network </a:t>
            </a:r>
          </a:p>
          <a:p>
            <a:pPr algn="ctr"/>
            <a:r>
              <a:rPr lang="en-US" sz="1200" b="1" noProof="0" dirty="0">
                <a:solidFill>
                  <a:schemeClr val="bg1"/>
                </a:solidFill>
              </a:rPr>
              <a:t>Perimeter</a:t>
            </a:r>
          </a:p>
        </p:txBody>
      </p:sp>
      <p:sp>
        <p:nvSpPr>
          <p:cNvPr id="22" name="TextBox 78">
            <a:extLst>
              <a:ext uri="{FF2B5EF4-FFF2-40B4-BE49-F238E27FC236}">
                <a16:creationId xmlns:a16="http://schemas.microsoft.com/office/drawing/2014/main" id="{5A2F6CC6-D2E9-1DAF-A89E-9E56F196E625}"/>
              </a:ext>
            </a:extLst>
          </p:cNvPr>
          <p:cNvSpPr txBox="1"/>
          <p:nvPr/>
        </p:nvSpPr>
        <p:spPr>
          <a:xfrm>
            <a:off x="5785289" y="1408100"/>
            <a:ext cx="1760622" cy="369332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2000" b="1" noProof="0" dirty="0">
                <a:solidFill>
                  <a:srgbClr val="0070C0"/>
                </a:solidFill>
              </a:rPr>
              <a:t>Platform</a:t>
            </a:r>
          </a:p>
        </p:txBody>
      </p:sp>
      <p:sp>
        <p:nvSpPr>
          <p:cNvPr id="23" name="TextBox 79">
            <a:extLst>
              <a:ext uri="{FF2B5EF4-FFF2-40B4-BE49-F238E27FC236}">
                <a16:creationId xmlns:a16="http://schemas.microsoft.com/office/drawing/2014/main" id="{AFDFA7D7-D388-1926-753F-1A192AC6F8B8}"/>
              </a:ext>
            </a:extLst>
          </p:cNvPr>
          <p:cNvSpPr txBox="1"/>
          <p:nvPr/>
        </p:nvSpPr>
        <p:spPr>
          <a:xfrm>
            <a:off x="8842458" y="3597668"/>
            <a:ext cx="1760622" cy="36933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9626E7-1B52-F083-87E6-2D8B7A91BB4D}"/>
              </a:ext>
            </a:extLst>
          </p:cNvPr>
          <p:cNvSpPr/>
          <p:nvPr/>
        </p:nvSpPr>
        <p:spPr>
          <a:xfrm>
            <a:off x="8161524" y="4745868"/>
            <a:ext cx="3503855" cy="11680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noProof="0" dirty="0"/>
              <a:t>The overlap of circles illustrates the structural dependency of the system, </a:t>
            </a:r>
            <a:r>
              <a:rPr lang="en-US" sz="1200" b="1" noProof="0" dirty="0"/>
              <a:t>starting with the Foundation Layer.</a:t>
            </a:r>
          </a:p>
          <a:p>
            <a:pPr algn="just"/>
            <a:endParaRPr lang="en-US" sz="1200" noProof="0" dirty="0"/>
          </a:p>
          <a:p>
            <a:pPr algn="just"/>
            <a:r>
              <a:rPr lang="en-US" sz="1200" noProof="0" dirty="0"/>
              <a:t>Without a functional lower layer, the layer above cannot operate.</a:t>
            </a:r>
          </a:p>
        </p:txBody>
      </p:sp>
    </p:spTree>
    <p:extLst>
      <p:ext uri="{BB962C8B-B14F-4D97-AF65-F5344CB8AC3E}">
        <p14:creationId xmlns:p14="http://schemas.microsoft.com/office/powerpoint/2010/main" val="285093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6C729-B771-2014-6337-6341C78A7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Recovery approach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165F035-6E54-E8C4-072B-2DE4F0256A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6036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D8FE-D24D-6DD9-57CB-002EE444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602A36-B7E6-80EC-8E06-F3C0201D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n-US" noProof="0" smtClean="0"/>
              <a:pPr rtl="0"/>
              <a:t>10</a:t>
            </a:fld>
            <a:endParaRPr lang="en-US" noProof="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02E06006-094A-B7FA-D56B-F3DE56717C0B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Recovery approach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156606CA-E79A-CD28-2CBD-58751C7D317E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FF954681-D2F2-4A9F-87A5-7A7A227F1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792E12A-7C65-A959-91D1-2F81719FAD84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3825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B9EAF-0405-7896-216C-4A77A942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EB0473-BD19-2A2C-B6FF-984222525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Backup strategy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F3BC045-FDE6-7A99-5D4C-ACFA29ECE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9AA0F809-9D38-EEFD-4DAF-DFABB94C1D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328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09F8-6F99-59D0-FAE5-F1AE14A6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space réservé du tableau 2">
            <a:extLst>
              <a:ext uri="{FF2B5EF4-FFF2-40B4-BE49-F238E27FC236}">
                <a16:creationId xmlns:a16="http://schemas.microsoft.com/office/drawing/2014/main" id="{9EC2FAA3-EA4D-C2F1-F214-687A79F545E0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408444418"/>
              </p:ext>
            </p:extLst>
          </p:nvPr>
        </p:nvGraphicFramePr>
        <p:xfrm>
          <a:off x="876298" y="1720943"/>
          <a:ext cx="10439404" cy="376229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098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5996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159250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159250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883832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785FC92-C391-D68A-0FDE-CBE3DE27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en-US" noProof="0" smtClean="0"/>
              <a:pPr rtl="0"/>
              <a:t>12</a:t>
            </a:fld>
            <a:endParaRPr lang="en-US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AA84663E-5D73-5F6C-CAA0-8B9B9ADABA26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Backup strategy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51842FB4-C19E-BE54-28EC-A6A454AEF3C9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02905F0-A235-5DCA-3503-CFBA015E8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E65103-43A6-CE9F-E801-6974532B44E7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81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8D5FA-57CA-9D34-0D3D-E4A339E7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FDA3B-198B-D377-C016-716EF0065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Specific cases</a:t>
            </a:r>
          </a:p>
        </p:txBody>
      </p:sp>
    </p:spTree>
    <p:extLst>
      <p:ext uri="{BB962C8B-B14F-4D97-AF65-F5344CB8AC3E}">
        <p14:creationId xmlns:p14="http://schemas.microsoft.com/office/powerpoint/2010/main" val="1106590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D4A2E-486E-74D3-FA8B-3CE954AB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space réservé du tableau 2">
            <a:extLst>
              <a:ext uri="{FF2B5EF4-FFF2-40B4-BE49-F238E27FC236}">
                <a16:creationId xmlns:a16="http://schemas.microsoft.com/office/drawing/2014/main" id="{7A71084F-E7A4-B3E7-D1FE-7CB6AE6BE48B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527456004"/>
              </p:ext>
            </p:extLst>
          </p:nvPr>
        </p:nvGraphicFramePr>
        <p:xfrm>
          <a:off x="876298" y="1720943"/>
          <a:ext cx="10439404" cy="376229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098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5996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159250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159250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883832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5ACE06-98B2-F58B-C70E-CCD6CE3F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en-US" noProof="0" smtClean="0"/>
              <a:pPr rtl="0"/>
              <a:t>14</a:t>
            </a:fld>
            <a:endParaRPr lang="en-US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60BC159-3977-F110-0473-95212FC0F1A9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Specific cases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796DCA3D-8278-AC9A-CC7C-C5A14F737939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449DAE74-AC64-DE63-67FE-DAFD8F41F6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5D1A83-5DDC-DF01-D29A-FCB6E4BD2FDF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825281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36B2-C04E-C0D4-4894-13915957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90C808-437A-7020-917F-82C7887D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Solutions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9CB075-0ACD-1E1E-5903-65A53559E1D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6556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FD82-649E-6985-CD9D-78124078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Espace réservé du tableau 2">
            <a:extLst>
              <a:ext uri="{FF2B5EF4-FFF2-40B4-BE49-F238E27FC236}">
                <a16:creationId xmlns:a16="http://schemas.microsoft.com/office/drawing/2014/main" id="{B4E30F0B-974E-852D-43FD-FFFD3570836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070192521"/>
              </p:ext>
            </p:extLst>
          </p:nvPr>
        </p:nvGraphicFramePr>
        <p:xfrm>
          <a:off x="876298" y="1720943"/>
          <a:ext cx="10439404" cy="376229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098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60985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59966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b="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1159250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1159250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883832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ctr" rtl="0"/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FD21F52-006B-C526-23BA-6E9042C9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en-US" noProof="0" smtClean="0"/>
              <a:pPr rtl="0"/>
              <a:t>16</a:t>
            </a:fld>
            <a:endParaRPr lang="en-US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768F668-438C-DB5E-2D43-D3ABBFF2EC04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Solutions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5464384C-09BA-F877-3E1B-81AAFD4715E7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02B76A46-681C-9C91-1325-5F2D1D3185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1C4B2E-5024-A916-DFD8-6C63A542D93B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291333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BAD13-64EF-F864-260D-B16CFB4BE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075750-D0CA-54C2-B71C-84450664D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Roadmap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03B6E41-71A1-D04C-CFBF-AD6F7AB00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441FB743-A88B-DCAD-4E76-21EC27F06C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54002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7D5A8-65A5-F988-2860-B872E4E7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F1781F-69E1-514D-CEC4-4C71A4CC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en-US" noProof="0" smtClean="0"/>
              <a:pPr rtl="0"/>
              <a:t>18</a:t>
            </a:fld>
            <a:endParaRPr lang="en-US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E25BF027-5D3A-BC1C-9586-9D2157468E9D}"/>
              </a:ext>
            </a:extLst>
          </p:cNvPr>
          <p:cNvSpPr txBox="1">
            <a:spLocks/>
          </p:cNvSpPr>
          <p:nvPr/>
        </p:nvSpPr>
        <p:spPr>
          <a:xfrm>
            <a:off x="2344180" y="-1141615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Roadmap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9F6C4573-1C0D-B5E8-A1C8-F2ED91C40D33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630222EB-D481-ED21-0358-1B7B8F109B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3EEB1C-186D-5CF8-8600-CB20625C323B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42701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C32F-ECCD-AFCD-E276-110A391C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4B4AC-C272-B59A-485F-5AD6E8853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noProof="0" dirty="0"/>
              <a:t>Questions to be addressed</a:t>
            </a:r>
          </a:p>
        </p:txBody>
      </p:sp>
    </p:spTree>
    <p:extLst>
      <p:ext uri="{BB962C8B-B14F-4D97-AF65-F5344CB8AC3E}">
        <p14:creationId xmlns:p14="http://schemas.microsoft.com/office/powerpoint/2010/main" val="763865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100D-9B38-65E6-4AC7-CAD544E1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0BCC72-C9D9-A889-0956-68A121CB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en-US" noProof="0" smtClean="0"/>
              <a:pPr rtl="0"/>
              <a:t>20</a:t>
            </a:fld>
            <a:endParaRPr lang="en-US" noProof="0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7637F712-8F20-8BA1-1337-836E1CA77C88}"/>
              </a:ext>
            </a:extLst>
          </p:cNvPr>
          <p:cNvSpPr txBox="1">
            <a:spLocks/>
          </p:cNvSpPr>
          <p:nvPr/>
        </p:nvSpPr>
        <p:spPr>
          <a:xfrm>
            <a:off x="2344179" y="-1141615"/>
            <a:ext cx="5669289" cy="3376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Questions to be addressed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8F02297-B576-34E5-4AAD-86E9F718521B}"/>
              </a:ext>
            </a:extLst>
          </p:cNvPr>
          <p:cNvGrpSpPr/>
          <p:nvPr/>
        </p:nvGrpSpPr>
        <p:grpSpPr>
          <a:xfrm>
            <a:off x="2438400" y="748141"/>
            <a:ext cx="1559560" cy="92599"/>
            <a:chOff x="2438400" y="748141"/>
            <a:chExt cx="1559560" cy="92599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D22566BA-1C66-0995-025F-4BAEB269BD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836355"/>
              <a:ext cx="1559560" cy="4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32480C-F542-A0E0-AAE7-82B74C9FFBD5}"/>
                </a:ext>
              </a:extLst>
            </p:cNvPr>
            <p:cNvSpPr/>
            <p:nvPr/>
          </p:nvSpPr>
          <p:spPr>
            <a:xfrm>
              <a:off x="2443240" y="748141"/>
              <a:ext cx="756460" cy="8313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29695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2742BB-5500-EF13-6E08-EAFAA48591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Resilience first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93754B0-0D53-D73C-83F3-7E56C96C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A49DFD55-3C28-40EF-9E31-A92D2E4017FF}" type="slidenum">
              <a:rPr lang="en-US" noProof="0" smtClean="0"/>
              <a:pPr rtl="0"/>
              <a:t>21</a:t>
            </a:fld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FF29A4-21FB-BE62-AF65-A43C6E5CD9AB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rcRect t="7175" r="-3" b="13583"/>
          <a:stretch>
            <a:fillRect/>
          </a:stretch>
        </p:blipFill>
        <p:spPr>
          <a:xfrm>
            <a:off x="3229113" y="4176739"/>
            <a:ext cx="5733773" cy="30327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653075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7_TF67328976_Win32" id="{E569B7C3-0BA4-406D-9BE9-5B461807E327}" vid="{D812BBC8-2D47-4B93-9C83-8DFFBCA5816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{E195EA00-4F70-46BC-AACF-1D2B784446FA}TF7521aafa-c748-4c40-a498-ba511be234dc9be095fc_win32-9da552dfceaf</Template>
  <TotalTime>41</TotalTime>
  <Words>157</Words>
  <Application>Microsoft Office PowerPoint</Application>
  <PresentationFormat>Grand écran</PresentationFormat>
  <Paragraphs>70</Paragraphs>
  <Slides>21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Tenorite</vt:lpstr>
      <vt:lpstr>Thème Office</vt:lpstr>
      <vt:lpstr>Resilience audit</vt:lpstr>
      <vt:lpstr>Agenda</vt:lpstr>
      <vt:lpstr>Context &amp; Objectives</vt:lpstr>
      <vt:lpstr>Context &amp; objectives</vt:lpstr>
      <vt:lpstr>AWS DR Cases Overview</vt:lpstr>
      <vt:lpstr>Présentation PowerPoint</vt:lpstr>
      <vt:lpstr>Criticality circles</vt:lpstr>
      <vt:lpstr>Présentation PowerPoint</vt:lpstr>
      <vt:lpstr>Recovery approach</vt:lpstr>
      <vt:lpstr>Présentation PowerPoint</vt:lpstr>
      <vt:lpstr>Backup strategy</vt:lpstr>
      <vt:lpstr>Présentation PowerPoint</vt:lpstr>
      <vt:lpstr>Specific cases</vt:lpstr>
      <vt:lpstr>Présentation PowerPoint</vt:lpstr>
      <vt:lpstr>Solutions</vt:lpstr>
      <vt:lpstr>Présentation PowerPoint</vt:lpstr>
      <vt:lpstr>Roadmap</vt:lpstr>
      <vt:lpstr>Présentation PowerPoint</vt:lpstr>
      <vt:lpstr>Questions to be addressed</vt:lpstr>
      <vt:lpstr>Présentation PowerPoint</vt:lpstr>
      <vt:lpstr>Resilience first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arf</dc:creator>
  <cp:lastModifiedBy>mehdi arf</cp:lastModifiedBy>
  <cp:revision>1</cp:revision>
  <dcterms:created xsi:type="dcterms:W3CDTF">2026-03-08T11:32:12Z</dcterms:created>
  <dcterms:modified xsi:type="dcterms:W3CDTF">2026-03-08T12:13:46Z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